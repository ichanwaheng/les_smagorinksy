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Georgia"/>
              </a:rPr>
              <a:t>Tensile Membrane FSI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8D9D2"/>
                </a:solidFill>
                <a:latin typeface="Calibri"/>
              </a:rPr>
              <a:t>Partitioned Serial-Staggered Method — Step by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Fluid–structure interaction of prestressed fabric membranes
in incompressible flow  ·  tensile_membrane_fsi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Agenda — What this deck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058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Problem &amp; modelling goal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Partitioned vs monolithic FSI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Code architecture &amp; modules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Setup: mesh, material, prestress, fluid grid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One coupled time step — every sub-step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Membrane dynamics (CST FEM + explicit integrator)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Fluid solver (PISO-like + LES + immersed boundary)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Load transfer modes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Stabilisation knobs (damping, mass_scale, under-relaxation)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Outputs, flutter case, and static DOLFINx contrast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Tensile Membrane FSI  ·  Partitioned serial-staggered method  ·  2/26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1.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560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8D5CC"/>
                </a:solidFill>
                <a:latin typeface="Calibri"/>
              </a:rPr>
              <a:t>Part 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30352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7A6B"/>
                </a:solidFill>
                <a:latin typeface="Georgia"/>
              </a:rPr>
              <a:t>Physics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627632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A thin prestressed tensile membrane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(sail / canopy / fabric roof) sits in a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3D air channel.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Flow exerts unsteady pressure → membrane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deforms and moves.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Membrane motion changes the flow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(immersed boundary) → two-way FSI.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Goal: capture transient interaction,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including flutter when damping is low.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188720"/>
            <a:ext cx="539496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2" y="1298448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7A6B"/>
                </a:solidFill>
                <a:latin typeface="Georgia"/>
              </a:rPr>
              <a:t>Numerical approach in this repo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627632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Membrane: CST triangles, prestress +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plane-stress elasticity, explicit CD.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Fluid: incompressible NS on Cartesian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grid, fractional-step / PISO-like,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optional Smagorinsky LES.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Coupling: partitioned serial staggered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(not monolithic).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IB: thin-band mask of fluid cells on the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membrane surface.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Tensile Membrane FSI  ·  Partitioned serial-staggered method  ·  3/26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2. Partitioned vs monolithic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560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8D5CC"/>
                </a:solidFill>
                <a:latin typeface="Calibri"/>
              </a:rPr>
              <a:t>Part 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30352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7A6B"/>
                </a:solidFill>
                <a:latin typeface="Georgia"/>
              </a:rPr>
              <a:t>This code = PARTITIONED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627632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Fluid and structure are separate solvers.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Each time step: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  1) advance fluid with current IB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  2) transfer loads to membrane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  3) advance membrane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  4) update IB from new position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Optional under-relaxed sub-iterations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tighten the interface residual.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Config: scheme: serial_staggered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188720"/>
            <a:ext cx="539496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2" y="1298448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45C26"/>
                </a:solidFill>
                <a:latin typeface="Georgia"/>
              </a:rPr>
              <a:t>Monolithic (NOT used here)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627632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Fluid + structure + interface assembled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into one joint algebraic system.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Solved together each step / Newton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iteration.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Stronger coupling / often more stable,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but larger, more complex Jacobian and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harder to reuse separate solvers.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Your DOLFINx SNES script is membrane-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only static analysis — neither FSI style.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Tensile Membrane FSI  ·  Partitioned serial-staggered method  ·  4/26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3. Repository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560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8D5CC"/>
                </a:solidFill>
                <a:latin typeface="Calibri"/>
              </a:rPr>
              <a:t>Part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main.py — load YAML, build FSISimulation, run loop, save outputs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config/default.yaml | flutter.yaml — physics &amp; numerics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src/membrane/ — geometry (CST mesh), materials, prestress / form-finding, explicit solver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src/fluid/ — Cartesian grid, PISO-like NS, Smagorinsky LES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src/fsi/ — coupling driver, load transfer, immersed-boundary update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src/utils/ — YAML I/O, NPZ/VTK writers, plots, GIF helpers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examples/ — membrane-only, coarse FSI, flutter GIF, Gmsh generator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tests/ — unit / smoke checks for membrane and coupled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Tensile Membrane FSI  ·  Partitioned serial-staggered method  ·  5/26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4. Setup pipeline (before time stepping)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560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8D5CC"/>
                </a:solidFill>
                <a:latin typeface="Calibri"/>
              </a:rPr>
              <a:t>Part B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411480" cy="38404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16128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C3E50"/>
                </a:solidFill>
                <a:latin typeface="Calibri"/>
              </a:rPr>
              <a:t>Build rectangular CST membrane mesh + fixed-edge BCs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411480" cy="38404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75564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C3E50"/>
                </a:solidFill>
                <a:latin typeface="Calibri"/>
              </a:rPr>
              <a:t>Apply slight analytical sag so flow sees a curved sail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31720"/>
            <a:ext cx="411480" cy="38404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39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3500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C3E50"/>
                </a:solidFill>
                <a:latin typeface="Calibri"/>
              </a:rPr>
              <a:t>Create MembraneMaterial (E, ν, thickness, prestress)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26079"/>
            <a:ext cx="411480" cy="38404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971799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94436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C3E50"/>
                </a:solidFill>
                <a:latin typeface="Calibri"/>
              </a:rPr>
              <a:t>Dynamic-relaxation prestress (heavily damped) → equilibrium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520439"/>
            <a:ext cx="411480" cy="38404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566159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538727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C3E50"/>
                </a:solidFill>
                <a:latin typeface="Calibri"/>
              </a:rPr>
              <a:t>Restore user transient damping from config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114800"/>
            <a:ext cx="411480" cy="38404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1605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33087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C3E50"/>
                </a:solidFill>
                <a:latin typeface="Calibri"/>
              </a:rPr>
              <a:t>Build FluidGrid + FluidSolver (ρ, ν, U_inlet, LES flags)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709160"/>
            <a:ext cx="411480" cy="38404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7548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72744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C3E50"/>
                </a:solidFill>
                <a:latin typeface="Calibri"/>
              </a:rPr>
              <a:t>Initial immersed-boundary mask from membrane state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303520"/>
            <a:ext cx="411480" cy="38404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34924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321808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C3E50"/>
                </a:solidFill>
                <a:latin typeface="Calibri"/>
              </a:rPr>
              <a:t>Read FSI knobs: α, max_subiters, load_mode, load_scale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Tensile Membrane FSI  ·  Partitioned serial-staggered method  ·  6/26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5. Membrane mesh &amp; BCs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560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8D5CC"/>
                </a:solidFill>
                <a:latin typeface="Calibri"/>
              </a:rPr>
              <a:t>Part B · Setup A–B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Rectangular patch in a reference plane; discretised into constant-strain triangles (CST)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Config: length, width, nx, ny → node/element connectivity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Placement in fluid: membrane_x0, membrane_y0, membrane_z0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fixed_edges (e.g. left/right/bottom/top) → Dirichlet nodes held at reference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initial_sag_shape: sinusoidal z-displacement so the sail is not perfectly flat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Why sag? A flat zero-curvature start has weak geometric stiffness and is a poor IB seed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Geometry helpers recompute element areas and normals as the membrane moves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Tensile Membrane FSI  ·  Partitioned serial-staggered method  ·  7/26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6. Material &amp; prestress form-finding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560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8D5CC"/>
                </a:solidFill>
                <a:latin typeface="Calibri"/>
              </a:rPr>
              <a:t>Part B · Setup C–E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0972800" cy="105156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mbria Math"/>
              </a:rPr>
              <a:t>Plane-stress elasticity + isotropic prestress resultant N_pre</a:t>
            </a:r>
          </a:p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mbria Math"/>
              </a:rPr>
              <a:t>Form-finding: heavily damped dynamics → near-equilibrium before FSI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MembraneMaterial: Young’s modulus E, Poisson ν, thickness h, prestress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apply_isotropic_prestress runs MembraneSolver with high damping + mass_scale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Many small explicit steps; velocities periodically halved, then zeroed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Purpose: settle fabric under prestress + gravity (dynamic relaxation)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After form-finding, transient damping is restored from config (may be ~0 for flutter)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This prestress damping is NOT the same as wanting viscous damping in the FSI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Tensile Membrane FSI  ·  Partitioned serial-staggered method  ·  8/26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7. Fluid grid &amp; solver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560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8D5CC"/>
                </a:solidFill>
                <a:latin typeface="Calibri"/>
              </a:rPr>
              <a:t>Part B · Setup F–G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Uniform Cartesian box: domain L × W × H, resolution nx × ny × nz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State fields: velocity (u,v,w), pressure p, effective viscosity ν_eff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Inlet profile tapered near walls to avoid corner spikes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Optional gust: sinusoidal streamwise + vertical inlet fluctuation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LES: Smagorinsky SGS adds eddy viscosity when enabled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Initial IB: membrane_cell_mask marks a thin band of cells as solid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Solid velocity in masked cells interpolated from nearest membrane 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Tensile Membrane FSI  ·  Partitioned serial-staggered method  ·  9/26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8. One FSI time step —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560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8D5CC"/>
                </a:solidFill>
                <a:latin typeface="Calibri"/>
              </a:rPr>
              <a:t>Part C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10972800" cy="77724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mbria Math"/>
              </a:rPr>
              <a:t>Serial staggered loop inside FSISimulation.step()  (repeat ≤ max_subiters)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0515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1. Update immersed boundary from current membrane x, v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2. Advance fluid one Δt (advection–diffusion → pressure Poisson → projection)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3. Compute surface loads → nodal forces (× load_scale)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4. Under-relax forces if sub-iteration &gt; 0: f ← α f_new + (1−α) f_old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5. Set membrane external forces; advance membrane with n_sub substeps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6. Measure interface residual from displacement change; break if &lt; tol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7. After sub-iters: t += Δt; log disp, KE, CFL, residual, |p|_max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Tensile Membrane FSI  ·  Partitioned serial-staggered method  ·  10/26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9. Step 1 — Update immersed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560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8D5CC"/>
                </a:solidFill>
                <a:latin typeface="Calibri"/>
              </a:rPr>
              <a:t>Part C ·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Function: update_immersed_boundary(...) in src/fsi/mesh_update.py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Build boolean mask of fluid cells near the membrane (thickness_cells ≈ 1.5)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For each masked cell, find nearest membrane node (in x–y) and copy its velocity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Pass mask + solid velocity (u_s, v_s, w_s) into FluidSolver.set_immersed_boundary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During fluid BC application, masked cells are forced to solid velocity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This is how structure → fluid coupling is enforced (kinematic condition)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As the membrane moves each step / sub-iter, the mask is rebuilt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Tensile Membrane FSI  ·  Partitioned serial-staggered method  ·  11/26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10. Step 2 — Advance the fluid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560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8D5CC"/>
                </a:solidFill>
                <a:latin typeface="Calibri"/>
              </a:rPr>
              <a:t>Part C · Detail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10972800" cy="123444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mbria Math"/>
              </a:rPr>
              <a:t>Fractional-step / PISO-like incompressible NS</a:t>
            </a:r>
          </a:p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mbria Math"/>
              </a:rPr>
              <a:t>u* ← advect–diffuse(u)   →   ∇²φ = (ρ/Δt) ∇·u*   →   u ← u* − (Δt/ρ) ∇φ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Convection: first-order upwind; diffusion: Laplacian with ν_eff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ν_eff = ν_molecular (+ Smagorinsky eddy viscosity if LES on)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Pressure Poisson with Neumann walls; one cell pinned for uniqueness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BCs: inlet (profile ± gust), no-slip side walls, zero-gradient outlet, IB force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Sanitizer clips NaN / runaway velocities (u_clip) on coarse teaching grids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CFL monitored after the coupled step for diagnostics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Tensile Membrane FSI  ·  Partitioned serial-staggered method  ·  12/26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11. Step 3 — Load transfer (fluid → structure)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560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8D5CC"/>
                </a:solidFill>
                <a:latin typeface="Calibri"/>
              </a:rPr>
              <a:t>Part C · Detail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6576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25272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7A6B"/>
                </a:solidFill>
                <a:latin typeface="Georgia"/>
              </a:rPr>
              <a:t>dynamic_pressure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81912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Default teaching model.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Sample fluid vel &amp; p at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element centroids.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Δp ≈ ½ ρ U_n |U_n|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+ 0.3 (p − p∞)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Clip to ±5 q_ref.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Incidence / Bernoulli-like;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good for angled loading.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143000"/>
            <a:ext cx="36576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125272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7A6B"/>
                </a:solidFill>
                <a:latin typeface="Georgia"/>
              </a:rPr>
              <a:t>pressure_jump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1581912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Used in flutter.yaml.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Sample p at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centroid ± offset·n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(outside IB band).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Δp = p(−n) − p(+n)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along +normal.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Captures unsteady lift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even when membrane is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aligned with the flow.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143000"/>
            <a:ext cx="36576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1" y="125272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7A6B"/>
                </a:solidFill>
                <a:latin typeface="Georgia"/>
              </a:rPr>
              <a:t>interpolated_field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1" y="1581912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Use interpolated fluid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pressure directly as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surface pressure.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Simplest mapping;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depends on how well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IB pressure is defined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near the membrane.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All modes then scatter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Fe = (p A / 3) n to the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three triangle nodes.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Tensile Membrane FSI  ·  Partitioned serial-staggered method  ·  13/26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12. Steps 4–6 — Relax, integrate membrane, residual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560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8D5CC"/>
                </a:solidFill>
                <a:latin typeface="Calibri"/>
              </a:rPr>
              <a:t>Part C ·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load_scale multiplies nodal forces (stabilises coarse / aggressive FSI)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Under-relaxation (sub-iter &gt; 0): f = α f_new + (1−α) f_old  — reduces load oscillation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membrane.set_external_forces(f_use)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n_mem = required_substeps(Δt) from membrane critical Δt (wave-speed CFL), capped at 200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membrane.step(Δt, n_sub=n_mem) advances structure with smaller structural substeps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Residual ≈ ‖Δx‖ / ‖x_prev‖ between sub-iterations; stop if &lt; residual_tol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max_subiters = 1 → pure serial stagger (weak coupling); &gt;1 → iterated weak coupling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Tensile Membrane FSI  ·  Partitioned serial-staggered method  ·  14/26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13. Membrane dynamics — residual &amp; integrator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560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8D5CC"/>
                </a:solidFill>
                <a:latin typeface="Calibri"/>
              </a:rPr>
              <a:t>Part 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10972800" cy="137160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mbria Math"/>
              </a:rPr>
              <a:t>M a = f_ext + f_gravity − f_int(x) − c v</a:t>
            </a:r>
          </a:p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mbria Math"/>
              </a:rPr>
              <a:t>Explicit central difference on free DOFs; fixed edges held at x₀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f_int = material (Green–Lagrange / plane-stress via CST B matrix) + geometric prestress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Lumped mass × mass_scale for artificial inertia (larger stable fluid Δt)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Gravity uses unscaled physical mass so weight is not artificially amplified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c = damping (Rayleigh-like viscous); set ~0 for persistent flutter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Safety: clip runaway nodal displacements; zero velocity on clipped nodes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critical_dt from max(material, prestress) wave speed and min edge 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Tensile Membrane FSI  ·  Partitioned serial-staggered method  ·  15/26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14. Membrane internal forces (per triangle)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560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8D5CC"/>
                </a:solidFill>
                <a:latin typeface="Calibri"/>
              </a:rPr>
              <a:t>Part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Build local orthonormal frame (e1, e2, n) from reference triangle X₀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Project displacements into the local plane → 2D CST B matrix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Strain ε = B u_loc  (Voigt); stress σ = C ε; membrane resultant N = h σ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Material nodal forces from Bᵀ (N A); map back to 3D via e1, e2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Add geometric / prestress edge forces from isotropic N_pre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Assemble to global f_int; residual subtracts f_int from loads + gravity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Contrast: DOLFINx static script derives residual from total potential energy + SNES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Tensile Membrane FSI  ·  Partitioned serial-staggered method  ·  16/26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15. Damping &amp; mass_scale — why they exist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560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8D5CC"/>
                </a:solidFill>
                <a:latin typeface="Calibri"/>
              </a:rPr>
              <a:t>Part 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30352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7A6B"/>
                </a:solidFill>
                <a:latin typeface="Georgia"/>
              </a:rPr>
              <a:t>damping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627632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Appears only in dynamics: −c v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Dissipates KE; kills mesh-scale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ringing and noisy FSI loads.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NOT required by static load analysis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(energy / SNES equilibrium).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default.yaml: c ≈ 80 (quiet demo)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flutter.yaml: c ≈ 0.02 (oscillations live)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You may set c = 0 if you accept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undamped / more fragile transients.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188720"/>
            <a:ext cx="539496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2" y="1298448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7A6B"/>
                </a:solidFill>
                <a:latin typeface="Georgia"/>
              </a:rPr>
              <a:t>mass_scale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627632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Multiplies lumped nodal mass for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the explicit integrator.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Slows structural response → larger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stable Δt when coupled to fluid.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Does NOT dissipate energy.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Gravity uses unscaled mass so the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sail weight stays physical.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Trade-off: artificial inertia vs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true membrane dynamics.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Tensile Membrane FSI  ·  Partitioned serial-staggered method  ·  17/26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16. LES &amp; immersed-boundary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560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8D5CC"/>
                </a:solidFill>
                <a:latin typeface="Calibri"/>
              </a:rPr>
              <a:t>Part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Smagorinsky: ν_t ~ (C_s Δ)² |S|; ν_eff = ν + ν_t when les.enabled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Teaching grids often raise molecular ν and may disable LES (--quick)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IB is a thin volumetric band, not a sharp zero-thickness interface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pressure_jump offset ≈ 3 Δz samples outside that band for Δp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Kinematic coupling: fluid velocity in band = membrane velocity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Dynamic coupling: fluid pressure / dynamic pressure → nodal forces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No ALE mesh morphing of the fluid grid — Cartesian + mask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Tensile Membrane FSI  ·  Partitioned serial-staggered method  ·  18/26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17. Outer run loop &amp;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560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8D5CC"/>
                </a:solidFill>
                <a:latin typeface="Calibri"/>
              </a:rPr>
              <a:t>Part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n_steps = ceil(t_end / dt); each iteration calls FSISimulation.step()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Callback every save_interval: print diagnostics + write artifacts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snapshot_XXXXXX.npz — membrane nodes + fluid fields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membrane_XXXXXX.vtk — open in ParaView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slice_XXXXXX.png — mid-plane |u| with membrane outline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history.csv / history.png — displacement, KE, CFL, FSI residual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membrane_flutter.gif — from examples/run_flutter_gif.py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Entry points: python main.py [-c config] [--quick]; examples/*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Tensile Membrane FSI  ·  Partitioned serial-staggered method  ·  19/26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18. Key configuration knobs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560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8D5CC"/>
                </a:solidFill>
                <a:latin typeface="Calibri"/>
              </a:rPr>
              <a:t>Part 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6576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25272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7A6B"/>
                </a:solidFill>
                <a:latin typeface="Georgia"/>
              </a:rPr>
              <a:t>membrane.*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81912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length, width, nx, ny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thickness, density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youngs_modulus, poisson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prestress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damping, mass_scale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fixed_edges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143000"/>
            <a:ext cx="36576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125272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7A6B"/>
                </a:solidFill>
                <a:latin typeface="Georgia"/>
              </a:rPr>
              <a:t>fluid.* / les.*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1581912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domain L,W,H + nx,ny,nz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rho, nu, U_inlet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membrane_x0/y0/z0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gust_amp, gust_freq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u_clip (sanitizer)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les.enabled, 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143000"/>
            <a:ext cx="36576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1" y="125272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7A6B"/>
                </a:solidFill>
                <a:latin typeface="Georgia"/>
              </a:rPr>
              <a:t>fsi.* / time.*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1" y="1581912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scheme: serial_staggered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under_relaxation 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max_subiters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residual_tol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load_scale, load_mode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dt, t_end, cfl_max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Tensile Membrane FSI  ·  Partitioned serial-staggered method  ·  20/26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19. Flutter demo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560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8D5CC"/>
                </a:solidFill>
                <a:latin typeface="Calibri"/>
              </a:rPr>
              <a:t>Part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config/flutter.yaml: light fabric, soft prestress, near-zero structural damping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Gusty inflow to seed unsteady lift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load_mode: pressure_jump for Δp across the sheet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Clamped on all four edges; oscillations intended to persist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examples/run_flutter_gif.py writes output/flutter/membrane_flutter.gif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Committed artifacts: NPZ/VTK snapshots, slices, history, GIF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Shows the partitioned method can sustain dynamic FSI without heavy damping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Tensile Membrane FSI  ·  Partitioned serial-staggered method  ·  21/26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20. Contrast: static DOLFINx load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560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8D5CC"/>
                </a:solidFill>
                <a:latin typeface="Calibri"/>
              </a:rPr>
              <a:t>Part F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30352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7A6B"/>
                </a:solidFill>
                <a:latin typeface="Georgia"/>
              </a:rPr>
              <a:t>DOLFINx + PETSc SNES (your script)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627632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Static nonlinear membrane only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Total potential energy Π(u)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Residual = δΠ; Jacobian = dF/du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Point load with load factor stepping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Small u₃ nudge for geometric stiffness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No mass, no damping, no fluid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Equilibrium: F_int(u) = F_ext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MUMPS / Newton line 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188720"/>
            <a:ext cx="539496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0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2" y="1298448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7A6B"/>
                </a:solidFill>
                <a:latin typeface="Georgia"/>
              </a:rPr>
              <a:t>This repo FSI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627632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Transient partitioned FSI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Separate fluid + structure solvers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Explicit CD structure + PISO fluid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Interface loads each Δt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Optional viscous damping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Artificial mass scaling common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IB kinematic coupling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  <a:latin typeface="Calibri"/>
              </a:rPr>
              <a:t>Teaching / prototyping fidelity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Tensile Membrane FSI  ·  Partitioned serial-staggered method  ·  22/26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21. Limits &amp; practical tips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560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8D5CC"/>
                </a:solidFill>
                <a:latin typeface="Calibri"/>
              </a:rPr>
              <a:t>Part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Cartesian IB fluid ≠ production unstructured LES / OpenFOAM pipeline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Explicit membrane Δt limited by wave speed — lower dt or E / prestress if unstable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Dynamic-pressure load model is approximate; swap load_transfer.py for fidelity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Raised ν and load_scale are stability aids on coarse grids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If you remove damping: expect more ringing; reduce dt / mass_scale / load_scale first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For static design loads, prefer energy-based SNES (DOLFINx) over this transient FSI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Gmsh helper exists for external unstructured coupling experiments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Tensile Membrane FSI  ·  Partitioned serial-staggered method  ·  23/26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22. End-to-end flowchart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560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8D5CC"/>
                </a:solidFill>
                <a:latin typeface="Calibri"/>
              </a:rPr>
              <a:t>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645920" cy="109728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YAML
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1488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2E3D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828800"/>
            <a:ext cx="1645920" cy="109728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0574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Build mesh
+ material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1488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2E3D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828800"/>
            <a:ext cx="1645920" cy="109728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20574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Prestress
relax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1488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2E3D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828800"/>
            <a:ext cx="1645920" cy="109728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20574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Fluid +
IB init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1488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2E3D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1828800"/>
            <a:ext cx="1645920" cy="10972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0574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Time loop
FSI.step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1488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2E3D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1828800"/>
            <a:ext cx="1645920" cy="109728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20574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Write
outputs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29184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Inside FSI.step (sub-iters):  IB update → fluid.step → loads → under-relax → membrane.step → residual check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Membrane subcycles with n_sub from structural CFL while fluid advances with global Δt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History accumulates time, max displacement, kinetic energy, CFL, coupling residual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Tensile Membrane FSI  ·  Partitioned serial-staggered method  ·  24/26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23. 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560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A8D5CC"/>
                </a:solidFill>
                <a:latin typeface="Calibri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Coupling is partitioned &amp; serial staggered — not monolithic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Two-way link: IB (structure→fluid) + pressure loads (fluid→structure)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Membrane: CST + prestress + explicit CD; fluid: PISO-like + optional LES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Damping is optional physics/numerics for dynamics; unused in static SNES analysis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mass_scale, load_scale, α, sub-iters are the main coupling stabilisers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Choose load_mode for the physics you care about (incidence vs Δp flutter)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Use default.yaml for quiet demos; flutter.yaml for near-undamped oscillation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Tensile Membrane FSI  ·  Partitioned serial-staggered method  ·  25/26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Questions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B8D9D2"/>
                </a:solidFill>
                <a:latin typeface="Calibri"/>
              </a:rPr>
              <a:t>Explore: config/default.yaml · config/flutter.yaml · src/fsi/coupling.py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B8D9D2"/>
                </a:solidFill>
                <a:latin typeface="Calibri"/>
              </a:rPr>
              <a:t>Run: python main.py --quick   |   python examples/run_flutter_gif.py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B8D9D2"/>
                </a:solidFill>
                <a:latin typeface="Calibri"/>
              </a:rPr>
              <a:t>Static loads: use DOLFINx energy / SNES path (no damping required)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